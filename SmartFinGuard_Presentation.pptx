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RF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Recall</c:v>
                </c:pt>
                <c:pt idx="2">
                  <c:v>Precision</c:v>
                </c:pt>
                <c:pt idx="3">
                  <c:v>F1-Score</c:v>
                </c:pt>
                <c:pt idx="4">
                  <c:v>ROC-AUC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58.88</c:v>
                </c:pt>
                <c:pt idx="1">
                  <c:v>49.8</c:v>
                </c:pt>
                <c:pt idx="2">
                  <c:v>4.3499999999999996</c:v>
                </c:pt>
                <c:pt idx="3">
                  <c:v>8</c:v>
                </c:pt>
                <c:pt idx="4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9D-46D1-85C7-548C1523D3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Final Model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Recall</c:v>
                </c:pt>
                <c:pt idx="2">
                  <c:v>Precision</c:v>
                </c:pt>
                <c:pt idx="3">
                  <c:v>F1-Score</c:v>
                </c:pt>
                <c:pt idx="4">
                  <c:v>ROC-AUC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89.64</c:v>
                </c:pt>
                <c:pt idx="1">
                  <c:v>9.9499999999999993</c:v>
                </c:pt>
                <c:pt idx="2">
                  <c:v>4.7699999999999996</c:v>
                </c:pt>
                <c:pt idx="3">
                  <c:v>6.45</c:v>
                </c:pt>
                <c:pt idx="4">
                  <c:v>58.81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9D-46D1-85C7-548C1523D3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274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2AFBF-34EF-D1F8-B5AB-7CBDA82EB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8FA97-BD00-7C0A-64C3-CD6D6C764A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2238F8-1141-62A1-8F88-D3CD03C19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B95D6-4CE4-6819-683E-B1F32369BA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83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6A7B-4C32-4756-B358-4E2DFD763F77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DATA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500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2690" y="205980"/>
            <a:ext cx="4690110" cy="342899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	A PROJECT PRESENTATION ON</a:t>
            </a:r>
            <a:endParaRPr lang="en-IN" sz="1800" b="1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8825BC-651F-89E1-1EE9-6AFC60DE2359}"/>
              </a:ext>
            </a:extLst>
          </p:cNvPr>
          <p:cNvSpPr txBox="1"/>
          <p:nvPr/>
        </p:nvSpPr>
        <p:spPr>
          <a:xfrm>
            <a:off x="2472689" y="785639"/>
            <a:ext cx="5684339" cy="433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750"/>
              </a:spcAft>
            </a:pPr>
            <a:r>
              <a:rPr lang="en-US" sz="210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Smart FinGuard – Finance Fraud Detection</a:t>
            </a:r>
            <a:endParaRPr lang="en-IN" sz="15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68B6F4-40D6-B359-0CAE-36DDBE599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136543"/>
              </p:ext>
            </p:extLst>
          </p:nvPr>
        </p:nvGraphicFramePr>
        <p:xfrm>
          <a:off x="2731771" y="2202620"/>
          <a:ext cx="4431029" cy="135445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15062">
                  <a:extLst>
                    <a:ext uri="{9D8B030D-6E8A-4147-A177-3AD203B41FA5}">
                      <a16:colId xmlns:a16="http://schemas.microsoft.com/office/drawing/2014/main" val="1293408815"/>
                    </a:ext>
                  </a:extLst>
                </a:gridCol>
                <a:gridCol w="3215967">
                  <a:extLst>
                    <a:ext uri="{9D8B030D-6E8A-4147-A177-3AD203B41FA5}">
                      <a16:colId xmlns:a16="http://schemas.microsoft.com/office/drawing/2014/main" val="2181770056"/>
                    </a:ext>
                  </a:extLst>
                </a:gridCol>
              </a:tblGrid>
              <a:tr h="2176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PRN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STUDENT</a:t>
                      </a:r>
                      <a:endParaRPr lang="en-IN" sz="1400" b="1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926521030"/>
                  </a:ext>
                </a:extLst>
              </a:tr>
              <a:tr h="2176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2501208018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Riya 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Dhorajiya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4235825738"/>
                  </a:ext>
                </a:extLst>
              </a:tr>
              <a:tr h="2176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2501208020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Om Mamtora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992259496"/>
                  </a:ext>
                </a:extLst>
              </a:tr>
              <a:tr h="2176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2501208063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Hemangi Vaghasiya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701954518"/>
                  </a:ext>
                </a:extLst>
              </a:tr>
              <a:tr h="2176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2501208064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Varun Kumbhani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469575422"/>
                  </a:ext>
                </a:extLst>
              </a:tr>
              <a:tr h="2176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2501208065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Mitali Rafaliya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780327350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412E8BC1-B057-329B-DC42-F05CAAD45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600" y="1210097"/>
            <a:ext cx="5844540" cy="90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MASTER</a:t>
            </a:r>
            <a:r>
              <a:rPr lang="en-US" altLang="en-US" sz="1350" b="1" i="1" dirty="0">
                <a:solidFill>
                  <a:srgbClr val="444444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altLang="en-US" sz="135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OF SCIENCE IN DATA SCIENCE</a:t>
            </a:r>
            <a:endParaRPr lang="en-US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35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SUBMITTED BY</a:t>
            </a:r>
            <a:endParaRPr lang="en-US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5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GROUP NO 1</a:t>
            </a:r>
            <a:endParaRPr lang="en-US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5" name="Picture 3">
            <a:extLst>
              <a:ext uri="{FF2B5EF4-FFF2-40B4-BE49-F238E27FC236}">
                <a16:creationId xmlns:a16="http://schemas.microsoft.com/office/drawing/2014/main" id="{BD7A39F9-EA70-F891-DB33-D09082056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067" y="205980"/>
            <a:ext cx="931069" cy="908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7606F929-4218-D885-5028-587BF8C3F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241" y="4173626"/>
            <a:ext cx="6385560" cy="966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SCHOOL OF DATA SCIENCE</a:t>
            </a:r>
            <a:endParaRPr lang="en-US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SYMBIOSIS SKILLS AND PROFESSIONAL UNIVERSITY, PUNE</a:t>
            </a:r>
            <a:endParaRPr lang="en-US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ACADEMIC YEAR 2025-26</a:t>
            </a:r>
            <a:endParaRPr lang="en-US" altLang="en-US" sz="1350" dirty="0"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E714F2-74B8-6A56-3CC6-9CC88D1384F9}"/>
              </a:ext>
            </a:extLst>
          </p:cNvPr>
          <p:cNvSpPr txBox="1"/>
          <p:nvPr/>
        </p:nvSpPr>
        <p:spPr>
          <a:xfrm>
            <a:off x="2815591" y="3649355"/>
            <a:ext cx="38328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5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UNDER THE GUIDANCE OF</a:t>
            </a:r>
            <a:endParaRPr lang="en-US" altLang="en-US" sz="600" dirty="0"/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(DR. ABHIJEET THAKUR)</a:t>
            </a:r>
            <a:endParaRPr lang="en-US" alt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21366"/>
            <a:ext cx="573578" cy="5735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1463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82880" y="2468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1" dirty="0"/>
          </a:p>
        </p:txBody>
      </p:sp>
      <p:sp>
        <p:nvSpPr>
          <p:cNvPr id="7" name="Text 4"/>
          <p:cNvSpPr/>
          <p:nvPr/>
        </p:nvSpPr>
        <p:spPr>
          <a:xfrm>
            <a:off x="18288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200400" y="182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CONTENTS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884219" y="658368"/>
            <a:ext cx="54864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84219" y="82296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907079" y="785553"/>
            <a:ext cx="41148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84219" y="82296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341419" y="8229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Objectives &amp; Scope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18859" y="82296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18859" y="822960"/>
            <a:ext cx="41148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18859" y="82296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176059" y="8229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0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Study &amp; Existing Approaches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884219" y="182880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884219" y="1828800"/>
            <a:ext cx="41148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884219" y="182880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341419" y="18288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Methodology</a:t>
            </a:r>
            <a:endParaRPr lang="en-US" sz="10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 Stack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718859" y="182880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18859" y="1828800"/>
            <a:ext cx="41148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18859" y="182880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76059" y="18288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</a:t>
            </a:r>
            <a:endParaRPr lang="en-US" sz="10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Cleaning &amp; Feature Engineering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884219" y="283464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884219" y="2834640"/>
            <a:ext cx="41148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884219" y="283464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341419" y="283464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0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&amp; Algorithm Selection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718859" y="283464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18859" y="2834640"/>
            <a:ext cx="41148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18859" y="283464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176059" y="283464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0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Confusion Matrix &amp; Insights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1884219" y="384048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1884219" y="3840480"/>
            <a:ext cx="41148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884219" y="384048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2341419" y="38404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Subjects</a:t>
            </a:r>
            <a:endParaRPr lang="en-US" sz="10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Interdisciplinary Contributions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718859" y="384048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718859" y="3840480"/>
            <a:ext cx="41148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718859" y="3840480"/>
            <a:ext cx="411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176059" y="38404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0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Next Steps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/>
              <a:t>2</a:t>
            </a:r>
          </a:p>
        </p:txBody>
      </p:sp>
      <p:sp>
        <p:nvSpPr>
          <p:cNvPr id="45" name="Text 42"/>
          <p:cNvSpPr/>
          <p:nvPr/>
        </p:nvSpPr>
        <p:spPr>
          <a:xfrm>
            <a:off x="182880" y="48280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10972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7"/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658368"/>
            <a:ext cx="8595360" cy="1828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731520"/>
            <a:ext cx="201168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73152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5M+</a:t>
            </a:r>
            <a:endParaRPr lang="en-US" sz="2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2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2450592" y="731520"/>
            <a:ext cx="201168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450592" y="73152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3.59%</a:t>
            </a:r>
            <a:endParaRPr lang="en-US" sz="2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2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626864" y="731520"/>
            <a:ext cx="2011680" cy="9601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26864" y="73152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2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803136" y="731520"/>
            <a:ext cx="2011680" cy="9601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803136" y="73152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2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274320" y="1828800"/>
            <a:ext cx="41148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1828800"/>
            <a:ext cx="411480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1828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Project Overview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84048" y="2176272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 is one of the costliest risks facing digital banking ecosystems today. Manual review of millions of daily transactions is simply impossible at scale.
</a:t>
            </a: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FinGuard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end-to-end fraud intelligence platform that combines: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Engineering with Apache Spark &amp; Airflow
• Machine Learning (Logistic Regression, RF, </a:t>
            </a:r>
            <a:r>
              <a:rPr lang="en-US" sz="1050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XGBoost,LBGMClassifier</a:t>
            </a: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
• Real-time inference via </a:t>
            </a:r>
            <a:r>
              <a:rPr lang="en-US" sz="1050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Analyst dashboards via POWER BI
• Cloud-ready S3 architecture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0" y="1828800"/>
            <a:ext cx="42976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0" y="1828800"/>
            <a:ext cx="429768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Objectives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63440" y="231343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63440" y="23134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919472" y="2240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modular fraud pipeline from ingestion → training → deployment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663440" y="277063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63440" y="27706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919472" y="2697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27 behavioral features: timing, amount deviation, merchant freq, anomaly flags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663440" y="322783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63440" y="32278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919472" y="3154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ML algorithms using recall-focused criteria for imbalanced data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663440" y="368503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63440" y="36850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919472" y="36118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model via API, dashboard &amp; web UI for business demonstration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663440" y="414223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63440" y="41422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4919472" y="40690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cloud-scale S3 storage + Airflow orchestration for production readiness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ECF0F1"/>
                </a:solidFill>
              </a:rPr>
              <a:t>SCHOOL OF DATA SCIENCE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/>
              <a:t>3</a:t>
            </a:r>
            <a:endParaRPr lang="en-US" sz="900" dirty="0"/>
          </a:p>
        </p:txBody>
      </p:sp>
      <p:pic>
        <p:nvPicPr>
          <p:cNvPr id="42" name="Image 0" descr="preencoded.png">
            <a:extLst>
              <a:ext uri="{FF2B5EF4-FFF2-40B4-BE49-F238E27FC236}">
                <a16:creationId xmlns:a16="http://schemas.microsoft.com/office/drawing/2014/main" id="{5E78BA37-8B63-E860-664B-D8B13AAD1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109728"/>
            <a:ext cx="521208" cy="5212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10972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    LITERATURE REVIEW / BACKGROUND STUDY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658368"/>
            <a:ext cx="8595360" cy="1828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77724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777240"/>
            <a:ext cx="420624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7724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as a Data Science Problem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84048" y="1161288"/>
            <a:ext cx="3986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Rare-event classification with severe class imbalance (~3.59% fraud)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 &amp; evolving attacker behavior add complexity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alone is misleading — focus on Recall &amp; F1-Score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are costlier than false positives in fraud detection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77724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777240"/>
            <a:ext cx="42062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18888" y="77724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Technical Approaches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818888" y="1161288"/>
            <a:ext cx="3986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systems → Statistical anomaly detection → ML pipelines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interpretable baseline for probability scoring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ensembles (RF, XGBoost): handle non-linear feature interactions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systems combine rules + supervised learning + graph analytics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74320" y="27432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743200"/>
            <a:ext cx="4206240" cy="3474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" y="274320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&amp; Pipeline Engineering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84048" y="3127248"/>
            <a:ext cx="3986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for scalable preprocessing of 5M+ transaction records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S3-compatible object storage for durable raw + processed data layers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for orchestrated, reproducible model-refresh workflows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= full platform, not just a single algorithm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709160" y="27432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09160" y="2743200"/>
            <a:ext cx="420624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18888" y="274320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Addressed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18888" y="3127248"/>
            <a:ext cx="3986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 projects separate analytics from deployment — we bridge this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cover ingest pipelines, storage, reproducibility &amp; user-facing interfaces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interpretation for imbalanced classification metrics included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this as an end-to-end fraud intelligence prototype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ECF0F1"/>
                </a:solidFill>
              </a:rPr>
              <a:t>SCHOOL OF DATA SCIENCE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/>
              <a:t>4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82880" y="48280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700" dirty="0"/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B69D061A-B29B-6E1E-BFCB-F4FB9C9B3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109728"/>
            <a:ext cx="521208" cy="5212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4"/>
          <p:cNvSpPr/>
          <p:nvPr/>
        </p:nvSpPr>
        <p:spPr>
          <a:xfrm>
            <a:off x="274320" y="658368"/>
            <a:ext cx="85953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11480" y="804672"/>
            <a:ext cx="822960" cy="82296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11480" y="8046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274320" y="16733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274320" y="20391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raw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1261872" y="1161288"/>
            <a:ext cx="256032" cy="36576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636776" y="804672"/>
            <a:ext cx="822960" cy="82296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1636776" y="8046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499616" y="16733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499616" y="20391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2487168" y="1161288"/>
            <a:ext cx="256032" cy="36576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862072" y="804672"/>
            <a:ext cx="822960" cy="82296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2862072" y="8046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1" name="Text 17"/>
          <p:cNvSpPr/>
          <p:nvPr/>
        </p:nvSpPr>
        <p:spPr>
          <a:xfrm>
            <a:off x="2724912" y="16733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2724912" y="20391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fraud-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features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3712464" y="1161288"/>
            <a:ext cx="256032" cy="36576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087368" y="804672"/>
            <a:ext cx="822960" cy="8229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4087368" y="8046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3950208" y="16733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3950208" y="20391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/ RF /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4937760" y="1161288"/>
            <a:ext cx="256032" cy="36576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312664" y="804672"/>
            <a:ext cx="822960" cy="82296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5312664" y="8046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175504" y="16733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175504" y="20391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batch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6163056" y="1161288"/>
            <a:ext cx="256032" cy="36576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537960" y="804672"/>
            <a:ext cx="822960" cy="8229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6537960" y="8046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6" name="Text 32"/>
          <p:cNvSpPr/>
          <p:nvPr/>
        </p:nvSpPr>
        <p:spPr>
          <a:xfrm>
            <a:off x="6400800" y="16733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6400800" y="20391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inference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750" dirty="0"/>
          </a:p>
        </p:txBody>
      </p:sp>
      <p:sp>
        <p:nvSpPr>
          <p:cNvPr id="38" name="Shape 34"/>
          <p:cNvSpPr/>
          <p:nvPr/>
        </p:nvSpPr>
        <p:spPr>
          <a:xfrm>
            <a:off x="7388352" y="1161288"/>
            <a:ext cx="256032" cy="36576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7763256" y="804672"/>
            <a:ext cx="822960" cy="8229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Text 36"/>
          <p:cNvSpPr/>
          <p:nvPr/>
        </p:nvSpPr>
        <p:spPr>
          <a:xfrm>
            <a:off x="7763256" y="8046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41" name="Text 37"/>
          <p:cNvSpPr/>
          <p:nvPr/>
        </p:nvSpPr>
        <p:spPr>
          <a:xfrm>
            <a:off x="7626096" y="16733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7626096" y="20391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&amp;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UI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274320" y="2542032"/>
            <a:ext cx="8595360" cy="320040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65760" y="25420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39C12"/>
                </a:solidFill>
              </a:rPr>
              <a:t>TECHNOLOGY STACK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347472" y="2880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2267712" y="28803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4325112" y="28803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274320" y="3154680"/>
            <a:ext cx="8595360" cy="24688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47472" y="317296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/ Data Lake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2267712" y="3172968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4279392" y="3172968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raw data, cloud-ready architecture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274320" y="3410712"/>
            <a:ext cx="8595360" cy="2468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47472" y="3429000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50" dirty="0"/>
          </a:p>
        </p:txBody>
      </p:sp>
      <p:sp>
        <p:nvSpPr>
          <p:cNvPr id="54" name="Text 50"/>
          <p:cNvSpPr/>
          <p:nvPr/>
        </p:nvSpPr>
        <p:spPr>
          <a:xfrm>
            <a:off x="2267712" y="3429000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PySpark</a:t>
            </a:r>
            <a:endParaRPr lang="en-US" sz="850" dirty="0"/>
          </a:p>
        </p:txBody>
      </p:sp>
      <p:sp>
        <p:nvSpPr>
          <p:cNvPr id="55" name="Text 51"/>
          <p:cNvSpPr/>
          <p:nvPr/>
        </p:nvSpPr>
        <p:spPr>
          <a:xfrm>
            <a:off x="4279392" y="3429000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ETL and cleaned parquet output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274320" y="3666744"/>
            <a:ext cx="8595360" cy="24688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347472" y="3685032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850" dirty="0"/>
          </a:p>
        </p:txBody>
      </p:sp>
      <p:sp>
        <p:nvSpPr>
          <p:cNvPr id="58" name="Text 54"/>
          <p:cNvSpPr/>
          <p:nvPr/>
        </p:nvSpPr>
        <p:spPr>
          <a:xfrm>
            <a:off x="2267712" y="368503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850" dirty="0"/>
          </a:p>
        </p:txBody>
      </p:sp>
      <p:sp>
        <p:nvSpPr>
          <p:cNvPr id="59" name="Text 55"/>
          <p:cNvSpPr/>
          <p:nvPr/>
        </p:nvSpPr>
        <p:spPr>
          <a:xfrm>
            <a:off x="4279392" y="3685032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fraud feature creation</a:t>
            </a:r>
            <a:endParaRPr lang="en-US" sz="850" dirty="0"/>
          </a:p>
        </p:txBody>
      </p:sp>
      <p:sp>
        <p:nvSpPr>
          <p:cNvPr id="60" name="Shape 56"/>
          <p:cNvSpPr/>
          <p:nvPr/>
        </p:nvSpPr>
        <p:spPr>
          <a:xfrm>
            <a:off x="274320" y="3922776"/>
            <a:ext cx="8595360" cy="2468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347472" y="3941064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850" dirty="0"/>
          </a:p>
        </p:txBody>
      </p:sp>
      <p:sp>
        <p:nvSpPr>
          <p:cNvPr id="62" name="Text 58"/>
          <p:cNvSpPr/>
          <p:nvPr/>
        </p:nvSpPr>
        <p:spPr>
          <a:xfrm>
            <a:off x="2267712" y="3941064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XGBoost</a:t>
            </a:r>
            <a:endParaRPr lang="en-US" sz="850" dirty="0"/>
          </a:p>
        </p:txBody>
      </p:sp>
      <p:sp>
        <p:nvSpPr>
          <p:cNvPr id="63" name="Text 59"/>
          <p:cNvSpPr/>
          <p:nvPr/>
        </p:nvSpPr>
        <p:spPr>
          <a:xfrm>
            <a:off x="4279392" y="3941064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pipelines for fraud detection</a:t>
            </a:r>
            <a:endParaRPr lang="en-US" sz="850" dirty="0"/>
          </a:p>
        </p:txBody>
      </p:sp>
      <p:sp>
        <p:nvSpPr>
          <p:cNvPr id="64" name="Shape 60"/>
          <p:cNvSpPr/>
          <p:nvPr/>
        </p:nvSpPr>
        <p:spPr>
          <a:xfrm>
            <a:off x="274320" y="4178808"/>
            <a:ext cx="8595360" cy="24688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347472" y="4197096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50" dirty="0"/>
          </a:p>
        </p:txBody>
      </p:sp>
      <p:sp>
        <p:nvSpPr>
          <p:cNvPr id="66" name="Text 62"/>
          <p:cNvSpPr/>
          <p:nvPr/>
        </p:nvSpPr>
        <p:spPr>
          <a:xfrm>
            <a:off x="2267712" y="4197096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850" dirty="0"/>
          </a:p>
        </p:txBody>
      </p:sp>
      <p:sp>
        <p:nvSpPr>
          <p:cNvPr id="67" name="Text 63"/>
          <p:cNvSpPr/>
          <p:nvPr/>
        </p:nvSpPr>
        <p:spPr>
          <a:xfrm>
            <a:off x="4279392" y="4197096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batch scheduling &amp; task dependency</a:t>
            </a:r>
            <a:endParaRPr lang="en-US" sz="850" dirty="0"/>
          </a:p>
        </p:txBody>
      </p:sp>
      <p:sp>
        <p:nvSpPr>
          <p:cNvPr id="68" name="Shape 64"/>
          <p:cNvSpPr/>
          <p:nvPr/>
        </p:nvSpPr>
        <p:spPr>
          <a:xfrm>
            <a:off x="274320" y="4434840"/>
            <a:ext cx="8595360" cy="2468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347472" y="44531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850" dirty="0"/>
          </a:p>
        </p:txBody>
      </p:sp>
      <p:sp>
        <p:nvSpPr>
          <p:cNvPr id="70" name="Text 66"/>
          <p:cNvSpPr/>
          <p:nvPr/>
        </p:nvSpPr>
        <p:spPr>
          <a:xfrm>
            <a:off x="2267712" y="4453128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50" dirty="0"/>
          </a:p>
        </p:txBody>
      </p:sp>
      <p:sp>
        <p:nvSpPr>
          <p:cNvPr id="71" name="Text 67"/>
          <p:cNvSpPr/>
          <p:nvPr/>
        </p:nvSpPr>
        <p:spPr>
          <a:xfrm>
            <a:off x="4279392" y="4453128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REST inference endpoint</a:t>
            </a:r>
            <a:endParaRPr lang="en-US" sz="850" dirty="0"/>
          </a:p>
        </p:txBody>
      </p:sp>
      <p:sp>
        <p:nvSpPr>
          <p:cNvPr id="72" name="Shape 68"/>
          <p:cNvSpPr/>
          <p:nvPr/>
        </p:nvSpPr>
        <p:spPr>
          <a:xfrm>
            <a:off x="274320" y="4690872"/>
            <a:ext cx="859536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347472" y="4709160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850" dirty="0"/>
          </a:p>
        </p:txBody>
      </p:sp>
      <p:sp>
        <p:nvSpPr>
          <p:cNvPr id="74" name="Text 70"/>
          <p:cNvSpPr/>
          <p:nvPr/>
        </p:nvSpPr>
        <p:spPr>
          <a:xfrm>
            <a:off x="2267712" y="4709160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Jinja2</a:t>
            </a:r>
            <a:endParaRPr lang="en-US" sz="850" dirty="0"/>
          </a:p>
        </p:txBody>
      </p:sp>
      <p:sp>
        <p:nvSpPr>
          <p:cNvPr id="75" name="Text 71"/>
          <p:cNvSpPr/>
          <p:nvPr/>
        </p:nvSpPr>
        <p:spPr>
          <a:xfrm>
            <a:off x="4279392" y="4709160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and demo web interfaces</a:t>
            </a:r>
            <a:endParaRPr lang="en-US" sz="850" dirty="0"/>
          </a:p>
        </p:txBody>
      </p:sp>
      <p:sp>
        <p:nvSpPr>
          <p:cNvPr id="77" name="Text 73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78" name="Text 74"/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39C12"/>
                </a:solidFill>
              </a:rPr>
              <a:t>5</a:t>
            </a:r>
            <a:endParaRPr lang="en-US" sz="900" dirty="0"/>
          </a:p>
        </p:txBody>
      </p:sp>
      <p:sp>
        <p:nvSpPr>
          <p:cNvPr id="79" name="Text 75"/>
          <p:cNvSpPr/>
          <p:nvPr/>
        </p:nvSpPr>
        <p:spPr>
          <a:xfrm>
            <a:off x="182880" y="48280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700" dirty="0"/>
          </a:p>
        </p:txBody>
      </p:sp>
      <p:sp>
        <p:nvSpPr>
          <p:cNvPr id="81" name="Text 1">
            <a:extLst>
              <a:ext uri="{FF2B5EF4-FFF2-40B4-BE49-F238E27FC236}">
                <a16:creationId xmlns:a16="http://schemas.microsoft.com/office/drawing/2014/main" id="{1BD9BB2B-899F-468D-929A-54F139B937A6}"/>
              </a:ext>
            </a:extLst>
          </p:cNvPr>
          <p:cNvSpPr/>
          <p:nvPr/>
        </p:nvSpPr>
        <p:spPr>
          <a:xfrm>
            <a:off x="411480" y="10972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</a:t>
            </a:r>
            <a:endParaRPr lang="en-US" sz="2000" dirty="0"/>
          </a:p>
        </p:txBody>
      </p:sp>
      <p:sp>
        <p:nvSpPr>
          <p:cNvPr id="84" name="Text 1">
            <a:extLst>
              <a:ext uri="{FF2B5EF4-FFF2-40B4-BE49-F238E27FC236}">
                <a16:creationId xmlns:a16="http://schemas.microsoft.com/office/drawing/2014/main" id="{30F79E9C-A928-8390-407A-443AC3E8ACF3}"/>
              </a:ext>
            </a:extLst>
          </p:cNvPr>
          <p:cNvSpPr/>
          <p:nvPr/>
        </p:nvSpPr>
        <p:spPr>
          <a:xfrm>
            <a:off x="563880" y="26706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      SYSTEM DESIGN &amp; METHODOLOGY</a:t>
            </a:r>
          </a:p>
        </p:txBody>
      </p:sp>
      <p:pic>
        <p:nvPicPr>
          <p:cNvPr id="86" name="Image 0" descr="preencoded.png">
            <a:extLst>
              <a:ext uri="{FF2B5EF4-FFF2-40B4-BE49-F238E27FC236}">
                <a16:creationId xmlns:a16="http://schemas.microsoft.com/office/drawing/2014/main" id="{5A48C298-DB4D-FED9-754B-F373E9FBB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109728"/>
            <a:ext cx="521208" cy="5212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10972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      DATA COLLECTION &amp; PREPROCESSING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658368"/>
            <a:ext cx="8595360" cy="1828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749808"/>
            <a:ext cx="1353312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749808"/>
            <a:ext cx="1353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5,000,000</a:t>
            </a:r>
            <a:endParaRPr lang="en-US" sz="16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737360" y="749808"/>
            <a:ext cx="1353312" cy="6858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737360" y="749808"/>
            <a:ext cx="1353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00400" y="749808"/>
            <a:ext cx="1353312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00400" y="749808"/>
            <a:ext cx="1353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179,553</a:t>
            </a:r>
            <a:endParaRPr lang="en-US" sz="16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663440" y="749808"/>
            <a:ext cx="1353312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63440" y="749808"/>
            <a:ext cx="1353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3.59%</a:t>
            </a:r>
            <a:endParaRPr lang="en-US" sz="16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Ratio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26480" y="749808"/>
            <a:ext cx="1353312" cy="6858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749808"/>
            <a:ext cx="1353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₹358.93</a:t>
            </a:r>
            <a:endParaRPr lang="en-US" sz="16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Amount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589520" y="749808"/>
            <a:ext cx="1353312" cy="6858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589520" y="749808"/>
            <a:ext cx="1353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₹3,520</a:t>
            </a:r>
            <a:endParaRPr lang="en-US" sz="16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Amount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74320" y="1572768"/>
            <a:ext cx="41148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1572768"/>
            <a:ext cx="411480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1572768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Cleaning &amp; ETL (Apache Spark)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84048" y="1938528"/>
            <a:ext cx="274320" cy="2560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4048" y="193852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13232" y="19385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 </a:t>
            </a: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5M transaction records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84048" y="2377440"/>
            <a:ext cx="274320" cy="2560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4048" y="237744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13232" y="23774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Empty Rows  </a:t>
            </a: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fully null entries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84048" y="2816352"/>
            <a:ext cx="274320" cy="2560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28163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13232" y="28163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Parsing  </a:t>
            </a: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datetime, extract date fields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84048" y="3255264"/>
            <a:ext cx="274320" cy="2560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84048" y="325526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13232" y="32552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Standardization  </a:t>
            </a: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&amp; trim categorical columns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84048" y="3694176"/>
            <a:ext cx="274320" cy="2560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84048" y="369417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13232" y="36941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  </a:t>
            </a: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amounts with 0, fraud_type handled separately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384048" y="4133088"/>
            <a:ext cx="274320" cy="2560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4048" y="41330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13232" y="41330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Output  </a:t>
            </a: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processed data in partition-friendly format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572000" y="1572768"/>
            <a:ext cx="42976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572000" y="1572768"/>
            <a:ext cx="429768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681728" y="1572768"/>
            <a:ext cx="4078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Engineered Features (27 Total)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572000" y="1938528"/>
            <a:ext cx="4297680" cy="283464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572000" y="1975104"/>
            <a:ext cx="54864" cy="21031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63440" y="1938528"/>
            <a:ext cx="1737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transaction_hour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400800" y="1938528"/>
            <a:ext cx="2377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time-of-day behaviour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4572000" y="2235708"/>
            <a:ext cx="42976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572000" y="2272284"/>
            <a:ext cx="54864" cy="21031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663440" y="2235708"/>
            <a:ext cx="1737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transaction_dayofweek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6400800" y="2235708"/>
            <a:ext cx="2377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pattern differences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4572000" y="2532888"/>
            <a:ext cx="4297680" cy="283464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572000" y="2569464"/>
            <a:ext cx="54864" cy="21031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663440" y="2532888"/>
            <a:ext cx="1737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is_night_transaction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6400800" y="2532888"/>
            <a:ext cx="2377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risk window flag</a:t>
            </a:r>
            <a:endParaRPr lang="en-US" sz="750" dirty="0"/>
          </a:p>
        </p:txBody>
      </p:sp>
      <p:sp>
        <p:nvSpPr>
          <p:cNvPr id="54" name="Shape 51"/>
          <p:cNvSpPr/>
          <p:nvPr/>
        </p:nvSpPr>
        <p:spPr>
          <a:xfrm>
            <a:off x="4572000" y="2830068"/>
            <a:ext cx="42976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572000" y="2866644"/>
            <a:ext cx="54864" cy="21031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663440" y="2830068"/>
            <a:ext cx="1737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customer_avg_amount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6400800" y="2830068"/>
            <a:ext cx="2377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spending baseline</a:t>
            </a:r>
            <a:endParaRPr lang="en-US" sz="750" dirty="0"/>
          </a:p>
        </p:txBody>
      </p:sp>
      <p:sp>
        <p:nvSpPr>
          <p:cNvPr id="58" name="Shape 55"/>
          <p:cNvSpPr/>
          <p:nvPr/>
        </p:nvSpPr>
        <p:spPr>
          <a:xfrm>
            <a:off x="4572000" y="3127248"/>
            <a:ext cx="4297680" cy="283464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572000" y="3163824"/>
            <a:ext cx="54864" cy="21031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663440" y="3127248"/>
            <a:ext cx="1737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amount_deviation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6400800" y="3127248"/>
            <a:ext cx="2377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from usual amount</a:t>
            </a:r>
            <a:endParaRPr lang="en-US" sz="750" dirty="0"/>
          </a:p>
        </p:txBody>
      </p:sp>
      <p:sp>
        <p:nvSpPr>
          <p:cNvPr id="62" name="Shape 59"/>
          <p:cNvSpPr/>
          <p:nvPr/>
        </p:nvSpPr>
        <p:spPr>
          <a:xfrm>
            <a:off x="4572000" y="3424428"/>
            <a:ext cx="42976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572000" y="3461004"/>
            <a:ext cx="54864" cy="2103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663440" y="3424428"/>
            <a:ext cx="1737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seconds_since_last_txn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6400800" y="3424428"/>
            <a:ext cx="2377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burst intensity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4572000" y="3721608"/>
            <a:ext cx="4297680" cy="283464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572000" y="3758184"/>
            <a:ext cx="54864" cy="21031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663440" y="3721608"/>
            <a:ext cx="1737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merchant_frequency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6400800" y="3721608"/>
            <a:ext cx="2377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Sender-merchant recurrence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4572000" y="4018788"/>
            <a:ext cx="42976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572000" y="4055364"/>
            <a:ext cx="54864" cy="2103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4663440" y="4018788"/>
            <a:ext cx="1737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high_velocity_flag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6400800" y="4018788"/>
            <a:ext cx="2377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suspicious velocity</a:t>
            </a:r>
            <a:endParaRPr lang="en-US" sz="750" dirty="0"/>
          </a:p>
        </p:txBody>
      </p:sp>
      <p:sp>
        <p:nvSpPr>
          <p:cNvPr id="74" name="Shape 71"/>
          <p:cNvSpPr/>
          <p:nvPr/>
        </p:nvSpPr>
        <p:spPr>
          <a:xfrm>
            <a:off x="4572000" y="4315968"/>
            <a:ext cx="4297680" cy="283464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4572000" y="4352544"/>
            <a:ext cx="54864" cy="2103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4663440" y="4315968"/>
            <a:ext cx="1737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high_geo_anomaly_flag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6400800" y="4315968"/>
            <a:ext cx="2377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geo suspiciousness</a:t>
            </a:r>
            <a:endParaRPr lang="en-US" sz="750" dirty="0"/>
          </a:p>
        </p:txBody>
      </p:sp>
      <p:sp>
        <p:nvSpPr>
          <p:cNvPr id="79" name="Text 76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ECF0F1"/>
                </a:solidFill>
              </a:rPr>
              <a:t>SCHOOL OF DATA SCIENCE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/>
              <a:t>6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182880" y="48280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700" dirty="0"/>
          </a:p>
        </p:txBody>
      </p:sp>
      <p:pic>
        <p:nvPicPr>
          <p:cNvPr id="82" name="Image 0" descr="preencoded.png">
            <a:extLst>
              <a:ext uri="{FF2B5EF4-FFF2-40B4-BE49-F238E27FC236}">
                <a16:creationId xmlns:a16="http://schemas.microsoft.com/office/drawing/2014/main" id="{BF546C59-2DA2-CF44-C1B3-3A3D1A97E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109728"/>
            <a:ext cx="521208" cy="5212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1097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 / IMPLEMENTATION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658368"/>
            <a:ext cx="85953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12-STAGE ML TRAINING PIPELINE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74320" y="1051560"/>
            <a:ext cx="1335024" cy="384048"/>
          </a:xfrm>
          <a:prstGeom prst="rect">
            <a:avLst/>
          </a:prstGeom>
          <a:solidFill>
            <a:srgbClr val="1A2B4A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051560"/>
            <a:ext cx="54864" cy="38404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0515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709928" y="1051560"/>
            <a:ext cx="1335024" cy="384048"/>
          </a:xfrm>
          <a:prstGeom prst="rect">
            <a:avLst/>
          </a:prstGeom>
          <a:solidFill>
            <a:srgbClr val="1A2B4A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09928" y="1051560"/>
            <a:ext cx="54864" cy="38404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01368" y="10515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145536" y="1051560"/>
            <a:ext cx="1335024" cy="384048"/>
          </a:xfrm>
          <a:prstGeom prst="rect">
            <a:avLst/>
          </a:prstGeom>
          <a:solidFill>
            <a:srgbClr val="1A2B4A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45536" y="1051560"/>
            <a:ext cx="54864" cy="38404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36976" y="10515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81144" y="1051560"/>
            <a:ext cx="1335024" cy="384048"/>
          </a:xfrm>
          <a:prstGeom prst="rect">
            <a:avLst/>
          </a:prstGeom>
          <a:solidFill>
            <a:srgbClr val="1A2B4A"/>
          </a:solidFill>
          <a:ln w="19050">
            <a:solidFill>
              <a:srgbClr val="1ABC9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81144" y="1051560"/>
            <a:ext cx="54864" cy="38404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72584" y="10515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Typing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016752" y="1051560"/>
            <a:ext cx="1335024" cy="384048"/>
          </a:xfrm>
          <a:prstGeom prst="rect">
            <a:avLst/>
          </a:prstGeom>
          <a:solidFill>
            <a:srgbClr val="1A2B4A"/>
          </a:solidFill>
          <a:ln w="19050">
            <a:solidFill>
              <a:srgbClr val="1ABC9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16752" y="1051560"/>
            <a:ext cx="54864" cy="38404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08192" y="10515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452360" y="1051560"/>
            <a:ext cx="1335024" cy="384048"/>
          </a:xfrm>
          <a:prstGeom prst="rect">
            <a:avLst/>
          </a:prstGeom>
          <a:solidFill>
            <a:srgbClr val="1A2B4A"/>
          </a:solidFill>
          <a:ln w="19050">
            <a:solidFill>
              <a:srgbClr val="1ABC9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52360" y="1051560"/>
            <a:ext cx="54864" cy="38404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43800" y="10515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Init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74320" y="1554480"/>
            <a:ext cx="1335024" cy="384048"/>
          </a:xfrm>
          <a:prstGeom prst="rect">
            <a:avLst/>
          </a:prstGeom>
          <a:solidFill>
            <a:srgbClr val="1A2B4A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4320" y="1554480"/>
            <a:ext cx="54864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15544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1709928" y="1554480"/>
            <a:ext cx="1335024" cy="384048"/>
          </a:xfrm>
          <a:prstGeom prst="rect">
            <a:avLst/>
          </a:prstGeom>
          <a:solidFill>
            <a:srgbClr val="1A2B4A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709928" y="1554480"/>
            <a:ext cx="54864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801368" y="15544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145536" y="1554480"/>
            <a:ext cx="1335024" cy="384048"/>
          </a:xfrm>
          <a:prstGeom prst="rect">
            <a:avLst/>
          </a:prstGeom>
          <a:solidFill>
            <a:srgbClr val="1A2B4A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145536" y="1554480"/>
            <a:ext cx="54864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36976" y="15544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81144" y="1554480"/>
            <a:ext cx="1335024" cy="384048"/>
          </a:xfrm>
          <a:prstGeom prst="rect">
            <a:avLst/>
          </a:prstGeom>
          <a:solidFill>
            <a:srgbClr val="1A2B4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81144" y="1554480"/>
            <a:ext cx="54864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72584" y="15544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016752" y="1554480"/>
            <a:ext cx="1335024" cy="384048"/>
          </a:xfrm>
          <a:prstGeom prst="rect">
            <a:avLst/>
          </a:prstGeom>
          <a:solidFill>
            <a:srgbClr val="1A2B4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016752" y="1554480"/>
            <a:ext cx="54864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08192" y="15544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Saving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7452360" y="1554480"/>
            <a:ext cx="1335024" cy="384048"/>
          </a:xfrm>
          <a:prstGeom prst="rect">
            <a:avLst/>
          </a:prstGeom>
          <a:solidFill>
            <a:srgbClr val="1A2B4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452360" y="1554480"/>
            <a:ext cx="54864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543800" y="15544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Generation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274320" y="2148840"/>
            <a:ext cx="2743200" cy="2487168"/>
          </a:xfrm>
          <a:prstGeom prst="rect">
            <a:avLst/>
          </a:prstGeom>
          <a:solidFill>
            <a:srgbClr val="1A2B4A"/>
          </a:solidFill>
          <a:ln w="19050">
            <a:solidFill>
              <a:srgbClr val="3498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274320" y="2148840"/>
            <a:ext cx="2743200" cy="38404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84048" y="214884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9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[Baseline]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411480" y="2660904"/>
            <a:ext cx="164592" cy="16459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0080" y="26060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Class-balanced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11480" y="3136392"/>
            <a:ext cx="164592" cy="16459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0080" y="308152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coefficients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11480" y="3611880"/>
            <a:ext cx="164592" cy="16459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0080" y="355701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baseline: 0.065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411480" y="4087368"/>
            <a:ext cx="164592" cy="16459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40080" y="403250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linear boundaries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3154680" y="2148840"/>
            <a:ext cx="2743200" cy="2487168"/>
          </a:xfrm>
          <a:prstGeom prst="rect">
            <a:avLst/>
          </a:prstGeom>
          <a:solidFill>
            <a:srgbClr val="1A2B4A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3154680" y="2148840"/>
            <a:ext cx="2743200" cy="38404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264408" y="214884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</a:t>
            </a:r>
            <a:r>
              <a:rPr lang="en-US" sz="9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[Ensemble]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3291840" y="2660904"/>
            <a:ext cx="164592" cy="164592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520440" y="26060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n_estimators=150, depth=10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3291840" y="3136392"/>
            <a:ext cx="164592" cy="164592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520440" y="308152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relationships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3291840" y="3611880"/>
            <a:ext cx="164592" cy="164592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3520440" y="355701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 applied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3291840" y="4087368"/>
            <a:ext cx="164592" cy="164592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520440" y="403250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F1=0.080, AUC=0.55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6035040" y="2148840"/>
            <a:ext cx="2743200" cy="2487168"/>
          </a:xfrm>
          <a:prstGeom prst="rect">
            <a:avLst/>
          </a:prstGeom>
          <a:solidFill>
            <a:srgbClr val="1A2B4A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6035040" y="2148840"/>
            <a:ext cx="274320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071616" y="214884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(Stacking)  </a:t>
            </a: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[Final Model]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6172200" y="2660904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400800" y="26060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</a:t>
            </a:r>
            <a:r>
              <a:rPr lang="en-US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LBGM base learners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6172200" y="3136392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400800" y="308152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Logistic Regression estimator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6172200" y="3611880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400800" y="355701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dynamic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6172200" y="4087368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400800" y="403250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tuned to 0.6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8823960" y="2148840"/>
            <a:ext cx="0" cy="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39C12"/>
                </a:solidFill>
              </a:rPr>
              <a:t>7</a:t>
            </a:r>
            <a:endParaRPr lang="en-US" sz="900" dirty="0"/>
          </a:p>
        </p:txBody>
      </p:sp>
      <p:pic>
        <p:nvPicPr>
          <p:cNvPr id="81" name="Image 0" descr="preencoded.png">
            <a:extLst>
              <a:ext uri="{FF2B5EF4-FFF2-40B4-BE49-F238E27FC236}">
                <a16:creationId xmlns:a16="http://schemas.microsoft.com/office/drawing/2014/main" id="{BA79AF44-C9E6-9BC2-8620-87E74E0A0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109728"/>
            <a:ext cx="521208" cy="5212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10972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     RESULTS &amp; ANALYSIS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658368"/>
            <a:ext cx="8595360" cy="1828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749808"/>
            <a:ext cx="135331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749808"/>
            <a:ext cx="1353312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804672"/>
            <a:ext cx="1353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67.87</a:t>
            </a: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737360" y="749808"/>
            <a:ext cx="135331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737360" y="749808"/>
            <a:ext cx="1353312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37360" y="804672"/>
            <a:ext cx="1353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38.17%</a:t>
            </a:r>
            <a:endParaRPr lang="en-US" sz="1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Recall</a:t>
            </a:r>
            <a:endParaRPr lang="en-US" sz="1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200400" y="749808"/>
            <a:ext cx="135331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749808"/>
            <a:ext cx="1353312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0" y="804672"/>
            <a:ext cx="1353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4.37%</a:t>
            </a:r>
            <a:endParaRPr lang="en-US" sz="1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Precision</a:t>
            </a:r>
            <a:endParaRPr lang="en-US" sz="1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663440" y="749808"/>
            <a:ext cx="135331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3498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749808"/>
            <a:ext cx="1353312" cy="54864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3440" y="804672"/>
            <a:ext cx="1353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7.85</a:t>
            </a:r>
            <a:r>
              <a:rPr lang="en-US" sz="18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F1-Score</a:t>
            </a:r>
            <a:endParaRPr lang="en-US" sz="1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126480" y="749808"/>
            <a:ext cx="135331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26480" y="749808"/>
            <a:ext cx="1353312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26480" y="804672"/>
            <a:ext cx="1353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1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7589520" y="749808"/>
            <a:ext cx="135331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589520" y="749808"/>
            <a:ext cx="1353312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89520" y="804672"/>
            <a:ext cx="13533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0.5881</a:t>
            </a:r>
            <a:endParaRPr lang="en-US" sz="1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274320" y="1691640"/>
            <a:ext cx="4114800" cy="3081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1691640"/>
            <a:ext cx="411480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4048" y="1691640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Confusion Matrix Breakdown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14400" y="20299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11480" y="202996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2331720" y="202996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274320" y="2240280"/>
            <a:ext cx="25603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411480" y="2084832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2331720" y="2084832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411480" y="3154680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2331720" y="3154680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4572000" y="1691640"/>
            <a:ext cx="4297680" cy="3081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572000" y="1691640"/>
            <a:ext cx="429768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681728" y="1691640"/>
            <a:ext cx="4078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 Performance &amp; Business Interpretation</a:t>
            </a:r>
            <a:endParaRPr lang="en-US" sz="1000" dirty="0"/>
          </a:p>
        </p:txBody>
      </p:sp>
      <p:graphicFrame>
        <p:nvGraphicFramePr>
          <p:cNvPr id="42" name="Chart 0"/>
          <p:cNvGraphicFramePr/>
          <p:nvPr>
            <p:extLst>
              <p:ext uri="{D42A27DB-BD31-4B8C-83A1-F6EECF244321}">
                <p14:modId xmlns:p14="http://schemas.microsoft.com/office/powerpoint/2010/main" val="4279961642"/>
              </p:ext>
            </p:extLst>
          </p:nvPr>
        </p:nvGraphicFramePr>
        <p:xfrm>
          <a:off x="4617720" y="2057400"/>
          <a:ext cx="4206240" cy="1609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" name="Shape 39"/>
          <p:cNvSpPr/>
          <p:nvPr/>
        </p:nvSpPr>
        <p:spPr>
          <a:xfrm>
            <a:off x="4681728" y="3749040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681728" y="37490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⚠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4919472" y="37490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fraud recall (9.95%) — model misses many real fraud cases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4681728" y="3995928"/>
            <a:ext cx="201168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681728" y="39959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4919472" y="39959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overall accuracy (89.64%) driven by the 96.41% legitimate class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4681728" y="4242816"/>
            <a:ext cx="201168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681728" y="42428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→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4919472" y="424281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threshold tuning, SMOTE resampling &amp; cost-sensitive learning needed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4681728" y="4489704"/>
            <a:ext cx="201168" cy="2011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681728" y="44897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★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4919472" y="44897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establishes strong engineering base for production extension</a:t>
            </a:r>
            <a:endParaRPr lang="en-US" sz="850" dirty="0"/>
          </a:p>
        </p:txBody>
      </p:sp>
      <p:sp>
        <p:nvSpPr>
          <p:cNvPr id="56" name="Text 52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ECF0F1"/>
                </a:solidFill>
              </a:rPr>
              <a:t>SCHOOL OF DATA SCIENCE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/>
              <a:t>8</a:t>
            </a:r>
            <a:endParaRPr lang="en-US" sz="900" dirty="0"/>
          </a:p>
        </p:txBody>
      </p: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4015118A-8E86-EC5C-45F3-D0F52A18F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" y="109728"/>
            <a:ext cx="521208" cy="5212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617110-3830-9065-04F0-C8801D81B5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70" y="2084832"/>
            <a:ext cx="2861164" cy="23843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E63CBE-501E-7C4C-8DD0-52EBEBA76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32B49FB-1D09-7575-962F-B3B6CE299296}"/>
              </a:ext>
            </a:extLst>
          </p:cNvPr>
          <p:cNvSpPr/>
          <p:nvPr/>
        </p:nvSpPr>
        <p:spPr>
          <a:xfrm>
            <a:off x="411480" y="10972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     RESULTS &amp; ANALYSIS</a:t>
            </a:r>
            <a:endParaRPr lang="en-US" sz="20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7C3ED8A-43F8-F223-4B1C-958D4DC222D7}"/>
              </a:ext>
            </a:extLst>
          </p:cNvPr>
          <p:cNvSpPr/>
          <p:nvPr/>
        </p:nvSpPr>
        <p:spPr>
          <a:xfrm>
            <a:off x="274320" y="658368"/>
            <a:ext cx="8595360" cy="1828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56" name="Text 52">
            <a:extLst>
              <a:ext uri="{FF2B5EF4-FFF2-40B4-BE49-F238E27FC236}">
                <a16:creationId xmlns:a16="http://schemas.microsoft.com/office/drawing/2014/main" id="{58A6A295-6783-E94A-E96E-9796532571FA}"/>
              </a:ext>
            </a:extLst>
          </p:cNvPr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ECF0F1"/>
                </a:solidFill>
              </a:rPr>
              <a:t>SCHOOL OF DATA SCIENCE</a:t>
            </a:r>
            <a:endParaRPr lang="en-US" sz="700" dirty="0"/>
          </a:p>
        </p:txBody>
      </p:sp>
      <p:sp>
        <p:nvSpPr>
          <p:cNvPr id="57" name="Text 53">
            <a:extLst>
              <a:ext uri="{FF2B5EF4-FFF2-40B4-BE49-F238E27FC236}">
                <a16:creationId xmlns:a16="http://schemas.microsoft.com/office/drawing/2014/main" id="{43B044D7-B99C-6D54-7544-CB2862C3C786}"/>
              </a:ext>
            </a:extLst>
          </p:cNvPr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/>
              <a:t>8</a:t>
            </a:r>
            <a:endParaRPr lang="en-US" sz="900" dirty="0"/>
          </a:p>
        </p:txBody>
      </p: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B1228239-C70B-6311-21CA-74A19D6AC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109728"/>
            <a:ext cx="521208" cy="52120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3EED12E-F2A1-6436-437E-AD8FAF627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" y="704088"/>
            <a:ext cx="7713514" cy="435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54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10972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INTEGRATION OF SUBJECTS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658368"/>
            <a:ext cx="8595360" cy="1828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80467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804672"/>
            <a:ext cx="2743200" cy="4572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80467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MSDS201 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1480" y="1408176"/>
            <a:ext cx="146304" cy="146304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" y="130759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baseline model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1480" y="1810512"/>
            <a:ext cx="146304" cy="146304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" y="170992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via F1-precision-recall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2212848"/>
            <a:ext cx="146304" cy="146304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" y="211226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metrics: RMSE, MAE, F1, ROC-AUC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154680" y="80467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154680" y="804672"/>
            <a:ext cx="2743200" cy="4572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64408" y="80467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MSDS202 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291840" y="1408176"/>
            <a:ext cx="146304" cy="146304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93008" y="130759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 pipeline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291840" y="1810512"/>
            <a:ext cx="146304" cy="146304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93008" y="170992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in EDA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291840" y="2212848"/>
            <a:ext cx="146304" cy="146304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93008" y="211226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amount_ratio = amount / (avg+1)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035040" y="80467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035040" y="804672"/>
            <a:ext cx="274320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44768" y="80467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MSDS203 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172200" y="1408176"/>
            <a:ext cx="146304" cy="14630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73368" y="130759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diagnostic plots auto-generated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172200" y="1810512"/>
            <a:ext cx="146304" cy="14630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73368" y="170992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analyst dashboard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172200" y="2212848"/>
            <a:ext cx="146304" cy="14630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73368" y="211226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ROC, PR curves, confusion matrix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74320" y="277063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274320" y="2770632"/>
            <a:ext cx="27432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84048" y="27706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MSDS204 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Data Science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11480" y="3374136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2648" y="327355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Classifier (RF + XGBoost)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11480" y="3776472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2648" y="367588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principles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11480" y="4178808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12648" y="407822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model serialization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3154680" y="277063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3154680" y="2770632"/>
            <a:ext cx="2743200" cy="4572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264408" y="27706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MSDS205 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&amp; Clouds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3291840" y="3374136"/>
            <a:ext cx="146304" cy="146304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493008" y="327355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ETL (10M+ records)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3291840" y="3776472"/>
            <a:ext cx="146304" cy="146304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493008" y="367588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object storage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3291840" y="4178808"/>
            <a:ext cx="146304" cy="146304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493008" y="407822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DAG scheduling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035040" y="277063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6035040" y="2770632"/>
            <a:ext cx="274320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144768" y="27706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MSDS206 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Data Mining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6172200" y="3374136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373368" y="327355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12-stage training pipeline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6172200" y="3776472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373368" y="367588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 for imbalance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6172200" y="4178808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373368" y="407822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OneHotEncoding + Median imputation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ECF0F1"/>
                </a:solidFill>
              </a:rPr>
              <a:t>SCHOOL OF DATA SCIENCE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/>
              <a:t>9</a:t>
            </a:r>
            <a:endParaRPr lang="en-US" sz="900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3EFEE2AC-E6B4-9D95-2B83-6F9DF0B27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109728"/>
            <a:ext cx="521208" cy="5212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1097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5"/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658368"/>
            <a:ext cx="859536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777240"/>
            <a:ext cx="4114800" cy="3858768"/>
          </a:xfrm>
          <a:prstGeom prst="rect">
            <a:avLst/>
          </a:prstGeom>
          <a:solidFill>
            <a:srgbClr val="1A2B4A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77240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A1628"/>
                </a:solidFill>
              </a:rPr>
              <a:t>✓  CONCLUSION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4048" y="1280160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" y="1207008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demonstrated an end-to-end fraud detection platform on 5M transactions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84048" y="1755648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" y="1682496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full lifecycle: ingestion → ETL → feature engineering → training → evaluation → deployment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4048" y="2231136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2157984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with cloud-aware S3 storage and deployment-ready FastAPI + Streamlit interfaces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84048" y="2706624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" y="2633472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achieves 67.87% accuracy — meaningful baseline, not yet production-grade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84048" y="3182112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" y="3108960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 exposes pipeline limitations: fraud recall at 38.17% needs improvement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84048" y="3657600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3504" y="3584448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objective achieved: combines technical implementation with critical interpretation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84048" y="4133088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" y="4059936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Interdisciplinary contribution across 6 M.Sc. Data Science core subjects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0" y="777240"/>
            <a:ext cx="4297680" cy="3858768"/>
          </a:xfrm>
          <a:prstGeom prst="rect">
            <a:avLst/>
          </a:prstGeom>
          <a:solidFill>
            <a:srgbClr val="1A2B4A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0" y="777240"/>
            <a:ext cx="42976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81728" y="777240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→  FUTURE WORK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81728" y="1207008"/>
            <a:ext cx="274320" cy="40233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81728" y="1207008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010912" y="120700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Fraud Recall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 (SMOTE), threshold tuning &amp; cost-sensitive learning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81728" y="1755648"/>
            <a:ext cx="274320" cy="402336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81728" y="1755648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010912" y="175564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Features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&amp; customer history features for linked-account behavior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681728" y="2304288"/>
            <a:ext cx="274320" cy="4023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81728" y="2304288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010912" y="230428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integration for live transaction event scoring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681728" y="2852928"/>
            <a:ext cx="274320" cy="40233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81728" y="2852928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010912" y="285292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Monitoring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detection, latency tracking &amp; recall degradation alerts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681728" y="3401568"/>
            <a:ext cx="274320" cy="40233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81728" y="3401568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010912" y="340156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Containerization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model registry for controlled production deployment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681728" y="3950208"/>
            <a:ext cx="274320" cy="40233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681728" y="3950208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010912" y="395020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Testing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validation, data quality checks &amp; end-to-end pipeline tests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32004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ECF0F1"/>
                </a:solidFill>
              </a:rPr>
              <a:t>SCHOOL OF DATA SCIENCE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/>
              <a:t>10</a:t>
            </a:r>
            <a:endParaRPr lang="en-US" sz="900" dirty="0"/>
          </a:p>
        </p:txBody>
      </p:sp>
      <p:pic>
        <p:nvPicPr>
          <p:cNvPr id="48" name="Image 0" descr="preencoded.png">
            <a:extLst>
              <a:ext uri="{FF2B5EF4-FFF2-40B4-BE49-F238E27FC236}">
                <a16:creationId xmlns:a16="http://schemas.microsoft.com/office/drawing/2014/main" id="{540ECD33-D2B1-0B81-DD03-ABA3353E5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109728"/>
            <a:ext cx="521208" cy="5212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2743200" y="2788920"/>
            <a:ext cx="36576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FinGuard — Finance Fraud Detection using Big Data &amp; Machine Learning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401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37673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SCHOOL OF DATA SCIENCE  |  SYMBIOSIS SKILLS AND PROFESSIONAL UNIVERSITY, PUNE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1341</Words>
  <Application>Microsoft Office PowerPoint</Application>
  <PresentationFormat>On-screen Show (16:9)</PresentationFormat>
  <Paragraphs>356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Times New Roman</vt:lpstr>
      <vt:lpstr>Office Theme</vt:lpstr>
      <vt:lpstr> A PROJECT PRESENTATION 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FinGuard - Finance Fraud Detection</dc:title>
  <dc:subject>PptxGenJS Presentation</dc:subject>
  <dc:creator>Smart FinGuard Team</dc:creator>
  <cp:lastModifiedBy>Om Mamtora</cp:lastModifiedBy>
  <cp:revision>5</cp:revision>
  <dcterms:created xsi:type="dcterms:W3CDTF">2026-05-11T18:14:11Z</dcterms:created>
  <dcterms:modified xsi:type="dcterms:W3CDTF">2026-05-11T20:21:02Z</dcterms:modified>
</cp:coreProperties>
</file>